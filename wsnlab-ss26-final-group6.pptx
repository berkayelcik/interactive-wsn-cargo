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64" r:id="rId7"/>
    <p:sldId id="260" r:id="rId8"/>
    <p:sldId id="261" r:id="rId9"/>
    <p:sldId id="263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1668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914400" cy="73152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731520" cy="100584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9692640" y="4937760"/>
            <a:ext cx="640080" cy="91440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0332720" y="4206240"/>
            <a:ext cx="274320" cy="164592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11338560" y="5212080"/>
            <a:ext cx="182880" cy="82296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10332720" y="5852160"/>
            <a:ext cx="1188720" cy="18288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9326880" y="5852160"/>
            <a:ext cx="1005840" cy="91440"/>
          </a:xfrm>
          <a:prstGeom prst="line">
            <a:avLst/>
          </a:prstGeom>
          <a:noFill/>
          <a:ln w="15875">
            <a:solidFill>
              <a:srgbClr val="1C729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9610344" y="4855464"/>
            <a:ext cx="164592" cy="164592"/>
          </a:xfrm>
          <a:prstGeom prst="ellipse">
            <a:avLst/>
          </a:prstGeom>
          <a:solidFill>
            <a:srgbClr val="5EC9C0">
              <a:alpha val="75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10524744" y="4123944"/>
            <a:ext cx="164592" cy="164592"/>
          </a:xfrm>
          <a:prstGeom prst="ellipse">
            <a:avLst/>
          </a:prstGeom>
          <a:solidFill>
            <a:srgbClr val="5EC9C0">
              <a:alpha val="75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11256264" y="5129784"/>
            <a:ext cx="164592" cy="164592"/>
          </a:xfrm>
          <a:prstGeom prst="ellipse">
            <a:avLst/>
          </a:prstGeom>
          <a:solidFill>
            <a:srgbClr val="5EC9C0">
              <a:alpha val="75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10250424" y="5769864"/>
            <a:ext cx="164592" cy="164592"/>
          </a:xfrm>
          <a:prstGeom prst="ellipse">
            <a:avLst/>
          </a:prstGeom>
          <a:solidFill>
            <a:srgbClr val="5EC9C0">
              <a:alpha val="75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11439144" y="5952744"/>
            <a:ext cx="164592" cy="164592"/>
          </a:xfrm>
          <a:prstGeom prst="ellipse">
            <a:avLst/>
          </a:prstGeom>
          <a:solidFill>
            <a:srgbClr val="5EC9C0">
              <a:alpha val="75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9244584" y="5861304"/>
            <a:ext cx="164592" cy="164592"/>
          </a:xfrm>
          <a:prstGeom prst="ellipse">
            <a:avLst/>
          </a:prstGeom>
          <a:solidFill>
            <a:srgbClr val="5EC9C0">
              <a:alpha val="75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300" dirty="0">
                <a:solidFill>
                  <a:srgbClr val="5E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SENSOR NETWORKS LABORATORY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1828800"/>
            <a:ext cx="9692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Human-in-the-Loop</a:t>
            </a:r>
            <a:endParaRPr lang="en-US" sz="3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System over a</a:t>
            </a:r>
            <a:endParaRPr lang="en-US" sz="3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Wireless Sensor Network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22960" y="41605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nRF52840 nodes · Contiki-NG · NullNet + CSMA/CA · Bellman-Ford multi-hop routing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68680" y="4800600"/>
            <a:ext cx="20116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Ayranci   ·   Kemal Berkay Elçik   ·   Andreea Musat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University of Munich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embedded sensing, operator judgment, and self-healing multi-hop networking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485900" y="2103120"/>
            <a:ext cx="731520" cy="731520"/>
          </a:xfrm>
          <a:prstGeom prst="ellipse">
            <a:avLst/>
          </a:prstGeom>
          <a:solidFill>
            <a:srgbClr val="E5F0F5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492" y="22677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01752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tr-TR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Constraints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3657600"/>
            <a:ext cx="220370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tr-TR" sz="12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Achieving reliable multi-hop routing and telemetro on memory-constrained nRF52840 nodes.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10712" y="178308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347972" y="2103120"/>
            <a:ext cx="731520" cy="731520"/>
          </a:xfrm>
          <a:prstGeom prst="ellipse">
            <a:avLst/>
          </a:prstGeom>
          <a:solidFill>
            <a:srgbClr val="E5F0F5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564" y="226771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5304" y="301752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tr-TR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Gap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11880" y="3657600"/>
            <a:ext cx="220370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ct val="115000"/>
              </a:lnSpc>
            </a:pPr>
            <a:r>
              <a:rPr lang="tr-TR" sz="12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Reconciling high-speed network packet routing with slow, asynchronous human decision-making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72784" y="178308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7210044" y="2103120"/>
            <a:ext cx="731520" cy="731520"/>
          </a:xfrm>
          <a:prstGeom prst="ellipse">
            <a:avLst/>
          </a:prstGeom>
          <a:solidFill>
            <a:srgbClr val="E5F0F5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636" y="226771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7376" y="301752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tr-TR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Volatility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73952" y="3657600"/>
            <a:ext cx="220370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tr-TR" sz="12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an unbroken industrial sorting pipeline despite node failures and dynamic topology changes.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134856" y="178308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10072116" y="2103120"/>
            <a:ext cx="731520" cy="731520"/>
          </a:xfrm>
          <a:prstGeom prst="ellipse">
            <a:avLst/>
          </a:prstGeom>
          <a:solidFill>
            <a:srgbClr val="E5F0F5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6708" y="226771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99448" y="301752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Delivery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36024" y="3657600"/>
            <a:ext cx="220370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proxy routing keeps cargo flowing even when nodes fail.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flows from physical sensing through the network to the customer, with reports bouncing back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52348" y="2194560"/>
            <a:ext cx="2331720" cy="219456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834744" y="2450592"/>
            <a:ext cx="566928" cy="56692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460" y="2558308"/>
            <a:ext cx="351495" cy="3514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2076" y="3154680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NODE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16940" y="3520440"/>
            <a:ext cx="20025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4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FSR sensor · ADC sampling · cargo generation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84068" y="3291840"/>
            <a:ext cx="32004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3604108" y="2194560"/>
            <a:ext cx="2331720" cy="2194560"/>
          </a:xfrm>
          <a:prstGeom prst="roundRect">
            <a:avLst>
              <a:gd name="adj" fmla="val 3333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4486504" y="2450592"/>
            <a:ext cx="566928" cy="56692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220" y="2558308"/>
            <a:ext cx="351495" cy="3514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13836" y="3154680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NODE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768700" y="3520440"/>
            <a:ext cx="20025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4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Joystick input · destination selection · queue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35828" y="3291840"/>
            <a:ext cx="32004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2"/>
          <p:cNvSpPr/>
          <p:nvPr/>
        </p:nvSpPr>
        <p:spPr>
          <a:xfrm>
            <a:off x="6255868" y="2194560"/>
            <a:ext cx="2331720" cy="219456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3"/>
          <p:cNvSpPr/>
          <p:nvPr/>
        </p:nvSpPr>
        <p:spPr>
          <a:xfrm>
            <a:off x="7138264" y="2450592"/>
            <a:ext cx="566928" cy="56692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980" y="2558308"/>
            <a:ext cx="351495" cy="35149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65596" y="3154680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WSN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20460" y="3520440"/>
            <a:ext cx="20025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4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Bellman-Ford distance-vector routing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587588" y="3291840"/>
            <a:ext cx="32004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17"/>
          <p:cNvSpPr/>
          <p:nvPr/>
        </p:nvSpPr>
        <p:spPr>
          <a:xfrm>
            <a:off x="8907628" y="2194560"/>
            <a:ext cx="2331720" cy="2194560"/>
          </a:xfrm>
          <a:prstGeom prst="roundRect">
            <a:avLst>
              <a:gd name="adj" fmla="val 3333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18"/>
          <p:cNvSpPr/>
          <p:nvPr/>
        </p:nvSpPr>
        <p:spPr>
          <a:xfrm>
            <a:off x="9790024" y="2450592"/>
            <a:ext cx="566928" cy="56692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7740" y="2558308"/>
            <a:ext cx="351495" cy="35149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17356" y="3154680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NODE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072220" y="3520440"/>
            <a:ext cx="200253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4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· label check · report generation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945715" y="4892039"/>
            <a:ext cx="5360944" cy="0"/>
          </a:xfrm>
          <a:prstGeom prst="line">
            <a:avLst/>
          </a:prstGeom>
          <a:noFill/>
          <a:ln w="22225">
            <a:solidFill>
              <a:srgbClr val="C1673A"/>
            </a:solidFill>
            <a:prstDash val="dash"/>
            <a:head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2"/>
          <p:cNvSpPr/>
          <p:nvPr/>
        </p:nvSpPr>
        <p:spPr>
          <a:xfrm>
            <a:off x="3284068" y="5001768"/>
            <a:ext cx="7022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1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packet (delivery status + route history) returns to the Operator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NullNet over IEEE 802.15.4 CSMA/CA, Channel 16 · Reduced TX power forces genuine multi-hop paths</a:t>
            </a:r>
            <a:endParaRPr lang="en-US" sz="1150" dirty="0"/>
          </a:p>
        </p:txBody>
      </p:sp>
      <p:sp>
        <p:nvSpPr>
          <p:cNvPr id="31" name="Shape 21">
            <a:extLst>
              <a:ext uri="{FF2B5EF4-FFF2-40B4-BE49-F238E27FC236}">
                <a16:creationId xmlns:a16="http://schemas.microsoft.com/office/drawing/2014/main" id="{90678E8B-2C73-EEF1-E020-1054F015D9BB}"/>
              </a:ext>
            </a:extLst>
          </p:cNvPr>
          <p:cNvSpPr/>
          <p:nvPr/>
        </p:nvSpPr>
        <p:spPr>
          <a:xfrm flipV="1">
            <a:off x="10306660" y="4407409"/>
            <a:ext cx="0" cy="502920"/>
          </a:xfrm>
          <a:prstGeom prst="line">
            <a:avLst/>
          </a:prstGeom>
          <a:noFill/>
          <a:ln w="22225">
            <a:solidFill>
              <a:srgbClr val="C1673A"/>
            </a:solidFill>
            <a:prstDash val="dash"/>
            <a:head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21">
            <a:extLst>
              <a:ext uri="{FF2B5EF4-FFF2-40B4-BE49-F238E27FC236}">
                <a16:creationId xmlns:a16="http://schemas.microsoft.com/office/drawing/2014/main" id="{78D62B65-30D5-9BB5-5B5B-145DBE92730E}"/>
              </a:ext>
            </a:extLst>
          </p:cNvPr>
          <p:cNvSpPr/>
          <p:nvPr/>
        </p:nvSpPr>
        <p:spPr>
          <a:xfrm flipH="1">
            <a:off x="4937842" y="4389120"/>
            <a:ext cx="0" cy="502919"/>
          </a:xfrm>
          <a:prstGeom prst="line">
            <a:avLst/>
          </a:prstGeom>
          <a:noFill/>
          <a:ln w="22225">
            <a:solidFill>
              <a:srgbClr val="C1673A"/>
            </a:solidFill>
            <a:prstDash val="dash"/>
            <a:headEnd type="triangle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Nodes, Four Roles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runs Contiki-NG; every node also participates in routing as a potential relay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713232" y="1984248"/>
            <a:ext cx="2276856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13232" y="1984248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7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2569464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3017520"/>
            <a:ext cx="22037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FSR via ADC; generates cargo packet with true label on threshold + Button1 press.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78308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10" name="Shape 8"/>
          <p:cNvSpPr/>
          <p:nvPr/>
        </p:nvSpPr>
        <p:spPr>
          <a:xfrm>
            <a:off x="3575304" y="1984248"/>
            <a:ext cx="2276856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575304" y="1984248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75304" y="2569464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11880" y="3017520"/>
            <a:ext cx="22037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cargo (20-slot queue); </a:t>
            </a:r>
            <a:r>
              <a:rPr lang="tr-TR" sz="11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1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 joystick X/Y to destination;</a:t>
            </a:r>
            <a:endParaRPr lang="tr-TR" sz="1150" dirty="0">
              <a:solidFill>
                <a:srgbClr val="5B70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tr-TR" sz="11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network bridge;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1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150" dirty="0" err="1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onitors</a:t>
            </a:r>
            <a:r>
              <a:rPr lang="en-US" sz="11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delivery reports.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2784" y="178308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6437376" y="1984248"/>
            <a:ext cx="2276856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437376" y="1984248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2–5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37376" y="2569464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73952" y="3017520"/>
            <a:ext cx="22037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delivery destinations; verify selected label vs. ground truth; generate reports.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34856" y="178308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9299448" y="1984248"/>
            <a:ext cx="2276856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9299448" y="1984248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99448" y="2569464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Relay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36024" y="3017520"/>
            <a:ext cx="220370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 as intermediate hop; can also serve as a proxy customer.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E5F0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749808" y="55778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687568"/>
            <a:ext cx="329184" cy="32918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63040" y="54406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node — including the Factory and Customers — can relay a packet destined for another device, enabling maximum physical flexibility.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physical force reading to verified delivery, in one continuous cycle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2606040" y="19476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2606040" y="1947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057400"/>
            <a:ext cx="640080" cy="64008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87" y="2179015"/>
            <a:ext cx="396850" cy="3968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288036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Generation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31520" y="347472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FSR threshold + Button1 press creates a cargo packet with a true label (A–D).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154680" y="3886200"/>
            <a:ext cx="256032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3410712" y="178308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5468112" y="19476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5468112" y="1947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666744" y="2057400"/>
            <a:ext cx="640080" cy="64008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8359" y="2179015"/>
            <a:ext cx="396850" cy="3968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75304" y="288036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Interaction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3593592" y="347472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20-slot circular buffer queues cargo; joystick X/Y select the destination label.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016752" y="3886200"/>
            <a:ext cx="256032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6"/>
          <p:cNvSpPr/>
          <p:nvPr/>
        </p:nvSpPr>
        <p:spPr>
          <a:xfrm>
            <a:off x="6272784" y="178308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7"/>
          <p:cNvSpPr/>
          <p:nvPr/>
        </p:nvSpPr>
        <p:spPr>
          <a:xfrm>
            <a:off x="8330184" y="19476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18"/>
          <p:cNvSpPr/>
          <p:nvPr/>
        </p:nvSpPr>
        <p:spPr>
          <a:xfrm>
            <a:off x="8330184" y="1947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6528816" y="2057400"/>
            <a:ext cx="640080" cy="64008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0431" y="2179015"/>
            <a:ext cx="396850" cy="39685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37376" y="288036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Feedback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6455664" y="347472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node checks selected vs. true label; report bounces back via routing table.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8878824" y="3886200"/>
            <a:ext cx="256032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3"/>
          <p:cNvSpPr/>
          <p:nvPr/>
        </p:nvSpPr>
        <p:spPr>
          <a:xfrm>
            <a:off x="9134856" y="178308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Shape 24"/>
          <p:cNvSpPr/>
          <p:nvPr/>
        </p:nvSpPr>
        <p:spPr>
          <a:xfrm>
            <a:off x="11192256" y="19476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5"/>
          <p:cNvSpPr/>
          <p:nvPr/>
        </p:nvSpPr>
        <p:spPr>
          <a:xfrm>
            <a:off x="11192256" y="1947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9390888" y="2057400"/>
            <a:ext cx="640080" cy="64008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2503" y="2179015"/>
            <a:ext cx="396850" cy="39685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299448" y="288036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or Re-sort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9317736" y="347472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→ logged resolved. Incorrect → re-queued at the back for a re-attempt.</a:t>
            </a:r>
            <a:endParaRPr lang="tr-TR" sz="1150" dirty="0">
              <a:solidFill>
                <a:srgbClr val="F0F6F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tr-TR" sz="1150" dirty="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Didn’t reach the node</a:t>
            </a:r>
            <a:r>
              <a:rPr lang="en-US" sz="1150" dirty="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</a:t>
            </a:r>
            <a:r>
              <a:rPr lang="tr-TR" sz="1150" dirty="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Dropped.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while awaiting a report → cargo is dropped and logged as a failure.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Tolerance &amp; Self-Healing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mechanisms keep cargo moving even as the physical network changes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685800" cy="68580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945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0312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Detection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4617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Beacons expose per-destination liveness; each node timestamps the latest beacon received.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watchdog checks these timestamps continuously.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update within a 10-second window → node marked offline.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cost to that node is set to infinity, so packets stop being forwarded through it.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6583680" y="2057400"/>
            <a:ext cx="685800" cy="685800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0312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Proxy Routing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3017520"/>
            <a:ext cx="4617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continuously monitors reachability of primary customers (Nodes 2–5).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becomes unreachable, the routing table is checked for an available backup.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6 (relay) or even Node 7 (Factory) can step in as a proxy customer.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Joystick input remaps to the proxy automatically — no manual reconfiguration or reset.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original node recovers, its primary role is automatically restored.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Packet Structure over NullNet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net_packet_t header (type, src_id) with a payload union: Beacon, Cargo, or Report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389120" y="160020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4389120" y="167335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net_packet_t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0" y="19933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· src_id · payload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 flipV="1">
            <a:off x="2000738" y="2834640"/>
            <a:ext cx="4080022" cy="45720"/>
          </a:xfrm>
          <a:prstGeom prst="line">
            <a:avLst/>
          </a:prstGeom>
          <a:noFill/>
          <a:ln w="15875">
            <a:solidFill>
              <a:srgbClr val="5B70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502920" y="3337560"/>
            <a:ext cx="33832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502920" y="3593592"/>
            <a:ext cx="3383280" cy="24688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02920" y="33375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Payload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8952" y="395935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to known nodes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flipH="1">
            <a:off x="6095848" y="2377440"/>
            <a:ext cx="0" cy="457200"/>
          </a:xfrm>
          <a:prstGeom prst="line">
            <a:avLst/>
          </a:prstGeom>
          <a:noFill/>
          <a:ln w="15875">
            <a:solidFill>
              <a:srgbClr val="5B70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389120" y="3337560"/>
            <a:ext cx="3383280" cy="3419856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389120" y="333756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389120" y="3593592"/>
            <a:ext cx="3383280" cy="24688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4389120" y="3337556"/>
            <a:ext cx="3383280" cy="502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Payload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45152" y="3959352"/>
            <a:ext cx="2926080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ID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ID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value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label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label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history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count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H="1">
            <a:off x="2000738" y="2880360"/>
            <a:ext cx="0" cy="411480"/>
          </a:xfrm>
          <a:prstGeom prst="line">
            <a:avLst/>
          </a:prstGeom>
          <a:noFill/>
          <a:ln w="15875">
            <a:solidFill>
              <a:srgbClr val="5B70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8275320" y="333756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8275320" y="333756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8275320" y="3593592"/>
            <a:ext cx="3383280" cy="24688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8275320" y="33375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Payload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531352" y="3959352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ID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success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history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count</a:t>
            </a:r>
            <a:endParaRPr lang="en-US" sz="1150" dirty="0"/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F0AE3304-EA7A-1B4E-2BE2-788C53AD0B70}"/>
              </a:ext>
            </a:extLst>
          </p:cNvPr>
          <p:cNvSpPr/>
          <p:nvPr/>
        </p:nvSpPr>
        <p:spPr>
          <a:xfrm>
            <a:off x="6069818" y="2834640"/>
            <a:ext cx="4080022" cy="0"/>
          </a:xfrm>
          <a:prstGeom prst="line">
            <a:avLst/>
          </a:prstGeom>
          <a:noFill/>
          <a:ln w="15875">
            <a:solidFill>
              <a:srgbClr val="5B70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A4019F64-8876-8BB5-5623-DCA57F9C9551}"/>
              </a:ext>
            </a:extLst>
          </p:cNvPr>
          <p:cNvSpPr/>
          <p:nvPr/>
        </p:nvSpPr>
        <p:spPr>
          <a:xfrm flipH="1">
            <a:off x="6080760" y="2834639"/>
            <a:ext cx="15088" cy="502917"/>
          </a:xfrm>
          <a:prstGeom prst="line">
            <a:avLst/>
          </a:prstGeom>
          <a:noFill/>
          <a:ln w="15875">
            <a:solidFill>
              <a:srgbClr val="5B70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17">
            <a:extLst>
              <a:ext uri="{FF2B5EF4-FFF2-40B4-BE49-F238E27FC236}">
                <a16:creationId xmlns:a16="http://schemas.microsoft.com/office/drawing/2014/main" id="{0650AECC-AAB1-1A84-BDC2-EF40A3076073}"/>
              </a:ext>
            </a:extLst>
          </p:cNvPr>
          <p:cNvSpPr/>
          <p:nvPr/>
        </p:nvSpPr>
        <p:spPr>
          <a:xfrm flipH="1">
            <a:off x="10149840" y="2834640"/>
            <a:ext cx="0" cy="502920"/>
          </a:xfrm>
          <a:prstGeom prst="line">
            <a:avLst/>
          </a:prstGeom>
          <a:noFill/>
          <a:ln w="15875">
            <a:solidFill>
              <a:srgbClr val="5B708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Multi-Hop Routing: Distributed Bellman-Ford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4297680" cy="525780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94360" cy="594360"/>
          </a:xfrm>
          <a:prstGeom prst="ellipse">
            <a:avLst/>
          </a:prstGeom>
          <a:solidFill>
            <a:srgbClr val="E5F0F5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91" y="1551051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63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240280"/>
            <a:ext cx="3657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Beacons broadcast every 3 seconds advertise routing costs to neighbors.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 on each received beacon is converted into </a:t>
            </a:r>
            <a:r>
              <a:rPr lang="tr-TR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penalty tiers (Cost:1, 4, 15, 50).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picks its next hop independently from its local table — no central coordination.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TX power forces genuine multi-hop paths in the lab space.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166360" y="1143000"/>
            <a:ext cx="649224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5440680" y="13258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Optimal Route via an Alternate Relay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77940" y="2354580"/>
            <a:ext cx="1554480" cy="274320"/>
          </a:xfrm>
          <a:prstGeom prst="line">
            <a:avLst/>
          </a:prstGeom>
          <a:noFill/>
          <a:ln w="19050">
            <a:solidFill>
              <a:srgbClr val="B7C6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6789420" y="235458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Cost:1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7932420" y="2354580"/>
            <a:ext cx="1554480" cy="0"/>
          </a:xfrm>
          <a:prstGeom prst="line">
            <a:avLst/>
          </a:prstGeom>
          <a:noFill/>
          <a:ln w="19050">
            <a:solidFill>
              <a:srgbClr val="B7C6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8343900" y="221742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Cost:1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377940" y="2628900"/>
            <a:ext cx="2286000" cy="1280160"/>
          </a:xfrm>
          <a:prstGeom prst="line">
            <a:avLst/>
          </a:prstGeom>
          <a:noFill/>
          <a:ln w="19050">
            <a:solidFill>
              <a:srgbClr val="B7C6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7155180" y="313182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Cost:3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932420" y="2354580"/>
            <a:ext cx="731520" cy="1554480"/>
          </a:xfrm>
          <a:prstGeom prst="line">
            <a:avLst/>
          </a:prstGeom>
          <a:noFill/>
          <a:ln w="19050">
            <a:solidFill>
              <a:srgbClr val="B7C6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4"/>
          <p:cNvSpPr/>
          <p:nvPr/>
        </p:nvSpPr>
        <p:spPr>
          <a:xfrm>
            <a:off x="7932420" y="299466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Cost:3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663940" y="3909060"/>
            <a:ext cx="1554480" cy="274320"/>
          </a:xfrm>
          <a:prstGeom prst="line">
            <a:avLst/>
          </a:prstGeom>
          <a:noFill/>
          <a:ln w="19050">
            <a:solidFill>
              <a:srgbClr val="B7C6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9075420" y="390906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Cost:15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0218420" y="2811780"/>
            <a:ext cx="731520" cy="1371600"/>
          </a:xfrm>
          <a:prstGeom prst="line">
            <a:avLst/>
          </a:prstGeom>
          <a:noFill/>
          <a:ln w="19050">
            <a:solidFill>
              <a:srgbClr val="B7C6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8"/>
          <p:cNvSpPr/>
          <p:nvPr/>
        </p:nvSpPr>
        <p:spPr>
          <a:xfrm>
            <a:off x="10218420" y="336042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Cost:20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486900" y="2354580"/>
            <a:ext cx="1463040" cy="457200"/>
          </a:xfrm>
          <a:prstGeom prst="line">
            <a:avLst/>
          </a:prstGeom>
          <a:noFill/>
          <a:ln w="19050">
            <a:solidFill>
              <a:srgbClr val="B7C6C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0"/>
          <p:cNvSpPr/>
          <p:nvPr/>
        </p:nvSpPr>
        <p:spPr>
          <a:xfrm>
            <a:off x="9852660" y="244602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Cost:1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377940" y="2628900"/>
            <a:ext cx="2286000" cy="1280160"/>
          </a:xfrm>
          <a:prstGeom prst="line">
            <a:avLst/>
          </a:prstGeom>
          <a:noFill/>
          <a:ln w="31750">
            <a:solidFill>
              <a:srgbClr val="C167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2"/>
          <p:cNvSpPr/>
          <p:nvPr/>
        </p:nvSpPr>
        <p:spPr>
          <a:xfrm>
            <a:off x="8663940" y="3909060"/>
            <a:ext cx="1554480" cy="274320"/>
          </a:xfrm>
          <a:prstGeom prst="line">
            <a:avLst/>
          </a:prstGeom>
          <a:noFill/>
          <a:ln w="31750">
            <a:solidFill>
              <a:srgbClr val="C167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3"/>
          <p:cNvSpPr/>
          <p:nvPr/>
        </p:nvSpPr>
        <p:spPr>
          <a:xfrm>
            <a:off x="10218420" y="2811780"/>
            <a:ext cx="731520" cy="1371600"/>
          </a:xfrm>
          <a:prstGeom prst="line">
            <a:avLst/>
          </a:prstGeom>
          <a:noFill/>
          <a:ln w="31750">
            <a:solidFill>
              <a:srgbClr val="C1673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4"/>
          <p:cNvSpPr/>
          <p:nvPr/>
        </p:nvSpPr>
        <p:spPr>
          <a:xfrm>
            <a:off x="5989320" y="2240280"/>
            <a:ext cx="777240" cy="777240"/>
          </a:xfrm>
          <a:prstGeom prst="ellipse">
            <a:avLst/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8" name="Text 25"/>
          <p:cNvSpPr/>
          <p:nvPr/>
        </p:nvSpPr>
        <p:spPr>
          <a:xfrm>
            <a:off x="5760720" y="2372868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543800" y="1965960"/>
            <a:ext cx="777240" cy="777240"/>
          </a:xfrm>
          <a:prstGeom prst="ellipse">
            <a:avLst/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Text 27"/>
          <p:cNvSpPr/>
          <p:nvPr/>
        </p:nvSpPr>
        <p:spPr>
          <a:xfrm>
            <a:off x="7315200" y="2098548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9098280" y="1965960"/>
            <a:ext cx="777240" cy="777240"/>
          </a:xfrm>
          <a:prstGeom prst="ellipse">
            <a:avLst/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Text 29"/>
          <p:cNvSpPr/>
          <p:nvPr/>
        </p:nvSpPr>
        <p:spPr>
          <a:xfrm>
            <a:off x="8869680" y="2098548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275320" y="3520440"/>
            <a:ext cx="777240" cy="777240"/>
          </a:xfrm>
          <a:prstGeom prst="ellipse">
            <a:avLst/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4" name="Text 31"/>
          <p:cNvSpPr/>
          <p:nvPr/>
        </p:nvSpPr>
        <p:spPr>
          <a:xfrm>
            <a:off x="8046720" y="3653028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N7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9829800" y="3794760"/>
            <a:ext cx="777240" cy="777240"/>
          </a:xfrm>
          <a:prstGeom prst="ellipse">
            <a:avLst/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6" name="Text 33"/>
          <p:cNvSpPr/>
          <p:nvPr/>
        </p:nvSpPr>
        <p:spPr>
          <a:xfrm>
            <a:off x="9601200" y="3927348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10561320" y="2423160"/>
            <a:ext cx="777240" cy="777240"/>
          </a:xfrm>
          <a:prstGeom prst="ellipse">
            <a:avLst/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8" name="Text 35"/>
          <p:cNvSpPr/>
          <p:nvPr/>
        </p:nvSpPr>
        <p:spPr>
          <a:xfrm>
            <a:off x="10332720" y="2555748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440680" y="58978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path shows a Bellman-Ford route using the Factory node as an intermediate relay.</a:t>
            </a:r>
            <a:endParaRPr lang="en-US" sz="10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BD92B8A-BEBC-59E7-EAD3-F56096C2FE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427" t="429" r="1644" b="-429"/>
          <a:stretch>
            <a:fillRect/>
          </a:stretch>
        </p:blipFill>
        <p:spPr>
          <a:xfrm>
            <a:off x="5287957" y="1717267"/>
            <a:ext cx="6111885" cy="39263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PyQt5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link to the Operator node feeds a live visualization of network and delivery state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086600" y="1783080"/>
            <a:ext cx="502920" cy="502920"/>
          </a:xfrm>
          <a:prstGeom prst="ellipse">
            <a:avLst/>
          </a:prstGeom>
          <a:solidFill>
            <a:srgbClr val="E5F0F5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1883664"/>
            <a:ext cx="301752" cy="30175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772400" y="17556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HUD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7772400" y="208483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customer labels A–D to physical nodes; updates live when proxy routing engages.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086600" y="2880360"/>
            <a:ext cx="502920" cy="502920"/>
          </a:xfrm>
          <a:prstGeom prst="ellipse">
            <a:avLst/>
          </a:prstGeom>
          <a:solidFill>
            <a:srgbClr val="E5F0F5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2980944"/>
            <a:ext cx="301752" cy="30175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772400" y="28529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Topology View</a:t>
            </a:r>
            <a:endParaRPr lang="en-US" sz="1350" dirty="0"/>
          </a:p>
        </p:txBody>
      </p:sp>
      <p:sp>
        <p:nvSpPr>
          <p:cNvPr id="34" name="Text 30"/>
          <p:cNvSpPr/>
          <p:nvPr/>
        </p:nvSpPr>
        <p:spPr>
          <a:xfrm>
            <a:off x="7772400" y="318211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Bellman-Ford state and traces active cargo paths in real time.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7086600" y="3977640"/>
            <a:ext cx="502920" cy="502920"/>
          </a:xfrm>
          <a:prstGeom prst="ellipse">
            <a:avLst/>
          </a:prstGeom>
          <a:solidFill>
            <a:srgbClr val="E5F0F5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4078224"/>
            <a:ext cx="301752" cy="301752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7772400" y="39502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Color-Coding</a:t>
            </a:r>
            <a:endParaRPr lang="en-US" sz="1350" dirty="0"/>
          </a:p>
        </p:txBody>
      </p:sp>
      <p:sp>
        <p:nvSpPr>
          <p:cNvPr id="38" name="Text 33"/>
          <p:cNvSpPr/>
          <p:nvPr/>
        </p:nvSpPr>
        <p:spPr>
          <a:xfrm>
            <a:off x="7772400" y="427939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or dead nodes are flagged instantly for diagnosis.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7086600" y="5074920"/>
            <a:ext cx="502920" cy="502920"/>
          </a:xfrm>
          <a:prstGeom prst="ellipse">
            <a:avLst/>
          </a:prstGeom>
          <a:solidFill>
            <a:srgbClr val="E5F0F5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5175504"/>
            <a:ext cx="301752" cy="301752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7772400" y="50474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Tables</a:t>
            </a:r>
            <a:endParaRPr lang="en-US" sz="1350" dirty="0"/>
          </a:p>
        </p:txBody>
      </p:sp>
      <p:sp>
        <p:nvSpPr>
          <p:cNvPr id="42" name="Text 36"/>
          <p:cNvSpPr/>
          <p:nvPr/>
        </p:nvSpPr>
        <p:spPr>
          <a:xfrm>
            <a:off x="7772400" y="537667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live circular buffer queue and historical sorting performance.</a:t>
            </a:r>
            <a:endParaRPr lang="en-US" sz="11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730ECE6D-986F-1AD1-68E3-1BEB51AF2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50255"/>
            <a:ext cx="6904306" cy="40821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Demonstration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end-to-end on a physical network of 7 nRF52840 wireless sensor nodes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778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Verified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432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6517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sensor acquisition and cargo generation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204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34290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buffering and joystick-based destination selection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29768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42062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multi-hop packet forwarding (lowered TX power)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07492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5880" y="49834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delivery feedback and reporting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6492240" y="1828800"/>
            <a:ext cx="5148072" cy="4297680"/>
          </a:xfrm>
          <a:prstGeom prst="roundRect">
            <a:avLst>
              <a:gd name="adj" fmla="val 1702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9"/>
          <p:cNvSpPr/>
          <p:nvPr/>
        </p:nvSpPr>
        <p:spPr>
          <a:xfrm>
            <a:off x="6812280" y="2103120"/>
            <a:ext cx="4507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Fault-Tolerance Validated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834640"/>
            <a:ext cx="457200" cy="457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406640" y="2834640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failures were intentionally introduced during the demo.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6812280" y="3566160"/>
            <a:ext cx="4507992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2"/>
          <p:cNvSpPr/>
          <p:nvPr/>
        </p:nvSpPr>
        <p:spPr>
          <a:xfrm>
            <a:off x="6812280" y="3794760"/>
            <a:ext cx="450799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Unreachable nodes were detected within the 10-second timeout.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proxy routing immediately reassigned unavailable customers.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delivery continued without manual reconfiguration or software resets.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68680" y="1325880"/>
            <a:ext cx="14630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4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designed and implemented a human-in-the-loop cargo sorting system that integrates embedded sensing, operator interaction, and distributed multi-hop communication on 7 nRF52840 nodes running Contiki-NG.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B256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1828800" y="3154680"/>
            <a:ext cx="594360" cy="594360"/>
          </a:xfrm>
          <a:prstGeom prst="ellipse">
            <a:avLst/>
          </a:prstGeom>
          <a:solidFill>
            <a:srgbClr val="2A367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672" y="327355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931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packet structures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45720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Beacon, Cargo, and Report payloads over NullNet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85032" y="288036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B256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4690872" y="3154680"/>
            <a:ext cx="594360" cy="594360"/>
          </a:xfrm>
          <a:prstGeom prst="ellipse">
            <a:avLst/>
          </a:prstGeom>
          <a:solidFill>
            <a:srgbClr val="2A367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327355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22192" y="3931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distance-vector routing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867912" y="45720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Bellman-Ford with RSSI-based link cost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547104" y="288036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B256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Shape 12"/>
          <p:cNvSpPr/>
          <p:nvPr/>
        </p:nvSpPr>
        <p:spPr>
          <a:xfrm>
            <a:off x="7552944" y="3154680"/>
            <a:ext cx="594360" cy="594360"/>
          </a:xfrm>
          <a:prstGeom prst="ellipse">
            <a:avLst/>
          </a:prstGeom>
          <a:solidFill>
            <a:srgbClr val="2A367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816" y="327355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84264" y="3931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packet buffering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729984" y="45720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20-slot operator queue with re-sorting on failure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409176" y="288036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1B256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Shape 16"/>
          <p:cNvSpPr/>
          <p:nvPr/>
        </p:nvSpPr>
        <p:spPr>
          <a:xfrm>
            <a:off x="10415016" y="3154680"/>
            <a:ext cx="594360" cy="594360"/>
          </a:xfrm>
          <a:prstGeom prst="ellipse">
            <a:avLst/>
          </a:prstGeom>
          <a:solidFill>
            <a:srgbClr val="2A367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3888" y="3273552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546336" y="3931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fault recovery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592056" y="45720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routing keeps delivery alive despite node loss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822960" y="5989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reliable, adaptive cargo delivery — with a human squarely in the loop.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1032</Words>
  <Application>Microsoft Office PowerPoint</Application>
  <PresentationFormat>Widescreen</PresentationFormat>
  <Paragraphs>166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Human-in-the-Loop Sorting System over a Self-Healing WSN</dc:title>
  <dc:subject>PptxGenJS Presentation</dc:subject>
  <dc:creator>Ayranci, Elcik, Musat</dc:creator>
  <cp:lastModifiedBy>Kemal Berkay Elçik</cp:lastModifiedBy>
  <cp:revision>4</cp:revision>
  <dcterms:created xsi:type="dcterms:W3CDTF">2026-07-06T22:31:15Z</dcterms:created>
  <dcterms:modified xsi:type="dcterms:W3CDTF">2026-07-07T08:27:07Z</dcterms:modified>
</cp:coreProperties>
</file>